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F5119-4D96-2DDE-F876-E59AB0882F47}" v="166" dt="2025-08-25T09:25:52.976"/>
    <p1510:client id="{6FB11F9C-47E7-1FE9-9D90-897BA5433658}" v="413" dt="2025-08-25T12:48:56.662"/>
    <p1510:client id="{83DAAC08-70E8-FE9A-16AE-26192852CA47}" v="1143" dt="2025-08-25T17:13:09.099"/>
    <p1510:client id="{935EBFD7-D777-2BF1-7A33-557D9DEDD5CB}" v="2268" dt="2025-08-25T14:28:31.018"/>
    <p1510:client id="{C12A19B1-EAD5-572C-47D0-924CEC940C88}" v="237" dt="2025-08-25T15:32:15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2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9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22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0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53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4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13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1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3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69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2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github.com/espressif/esp-idf/issues/680#issuecomment-2426425417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8" y="978408"/>
            <a:ext cx="4754880" cy="146304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3200" b="1" kern="1200">
                <a:latin typeface="+mj-lt"/>
                <a:ea typeface="+mj-ea"/>
                <a:cs typeface="+mj-cs"/>
              </a:rPr>
              <a:t>Communication policies that shape Embedded Evolution in ESP32 Collectives</a:t>
            </a:r>
            <a:endParaRPr lang="en-US" sz="3200" b="1" kern="1200"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2578608"/>
            <a:ext cx="4672584" cy="376732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i="0"/>
              <a:t>Luis </a:t>
            </a:r>
            <a:r>
              <a:rPr lang="en-US" b="1" i="0" err="1"/>
              <a:t>Yallico</a:t>
            </a:r>
            <a:r>
              <a:rPr lang="en-US" b="1" i="0"/>
              <a:t> </a:t>
            </a:r>
            <a:r>
              <a:rPr lang="en-US" b="1" i="0" err="1"/>
              <a:t>Ylquimiche</a:t>
            </a:r>
            <a:r>
              <a:rPr lang="en-US" b="1" i="0"/>
              <a:t> </a:t>
            </a:r>
            <a:br>
              <a:rPr lang="en-US" b="1" i="0"/>
            </a:br>
            <a:r>
              <a:rPr lang="en-US" b="1" i="0"/>
              <a:t>(SID: 2354065)</a:t>
            </a:r>
            <a:br>
              <a:rPr lang="en-US" b="1" i="0"/>
            </a:br>
            <a:br>
              <a:rPr lang="en-US" i="0"/>
            </a:br>
            <a:r>
              <a:rPr lang="en-US" i="0"/>
              <a:t>Supervisor: Dr Paul O'Dowd</a:t>
            </a:r>
            <a:br>
              <a:rPr lang="en-US" i="0"/>
            </a:br>
            <a:r>
              <a:rPr lang="en-US" i="0"/>
              <a:t>MSc Robotics</a:t>
            </a:r>
            <a:br>
              <a:rPr lang="en-US" i="0"/>
            </a:br>
            <a:r>
              <a:rPr lang="en-US" i="0"/>
              <a:t>25th August 2025</a:t>
            </a:r>
          </a:p>
        </p:txBody>
      </p:sp>
      <p:pic>
        <p:nvPicPr>
          <p:cNvPr id="6" name="Picture 5" descr="A group of small white robots on a table&#10;&#10;AI-generated content may be incorrect.">
            <a:extLst>
              <a:ext uri="{FF2B5EF4-FFF2-40B4-BE49-F238E27FC236}">
                <a16:creationId xmlns:a16="http://schemas.microsoft.com/office/drawing/2014/main" id="{16E4DFBE-8D57-E94A-8A66-830881A9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408" t="264" r="12454" b="-264"/>
          <a:stretch>
            <a:fillRect/>
          </a:stretch>
        </p:blipFill>
        <p:spPr>
          <a:xfrm>
            <a:off x="5958018" y="508090"/>
            <a:ext cx="5701853" cy="584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7CD8-84CE-2351-A084-BA85FB1D8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Why this research?</a:t>
            </a:r>
          </a:p>
        </p:txBody>
      </p:sp>
      <p:pic>
        <p:nvPicPr>
          <p:cNvPr id="9" name="Picture 8" descr="A black and white drawing of a group of objects&#10;&#10;AI-generated content may be incorrect.">
            <a:extLst>
              <a:ext uri="{FF2B5EF4-FFF2-40B4-BE49-F238E27FC236}">
                <a16:creationId xmlns:a16="http://schemas.microsoft.com/office/drawing/2014/main" id="{DC4A4332-5C8A-375C-DAEC-6F5DBFB14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59" t="3889" r="16574" b="2585"/>
          <a:stretch>
            <a:fillRect/>
          </a:stretch>
        </p:blipFill>
        <p:spPr>
          <a:xfrm>
            <a:off x="8059392" y="1524000"/>
            <a:ext cx="2914665" cy="272786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4BC15-152C-D91E-2038-2E0237BA9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11061"/>
            <a:ext cx="4997383" cy="234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/>
              <a:t>Communication is fundamental for swarm behavior emergence</a:t>
            </a:r>
            <a:endParaRPr lang="en-US"/>
          </a:p>
          <a:p>
            <a:r>
              <a:rPr lang="en-US" sz="1600"/>
              <a:t>Swarm studies recent focus on co-ordination and task allocation</a:t>
            </a:r>
          </a:p>
          <a:p>
            <a:r>
              <a:rPr lang="en-US" sz="1600"/>
              <a:t>ESP32 data link (ESP-NOW) has not been explored in swarm literature</a:t>
            </a:r>
            <a:br>
              <a:rPr lang="en-US" sz="1600"/>
            </a:br>
            <a:endParaRPr lang="en-US" sz="1600"/>
          </a:p>
          <a:p>
            <a:endParaRPr lang="en-US" sz="16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DCBBB2-D810-9DCB-0471-451A8EDB0FDD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chemeClr val="accent3"/>
                </a:solidFill>
              </a:rPr>
              <a:t>Situation of research</a:t>
            </a:r>
            <a:endParaRPr lang="en-US" sz="16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0E20F-BE3A-8943-095B-DA6FD09411E0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ADCF7F7-FE1A-CD9F-7115-70D04908F55C}"/>
              </a:ext>
            </a:extLst>
          </p:cNvPr>
          <p:cNvGrpSpPr/>
          <p:nvPr/>
        </p:nvGrpSpPr>
        <p:grpSpPr>
          <a:xfrm>
            <a:off x="256165" y="4052681"/>
            <a:ext cx="7284143" cy="2136300"/>
            <a:chOff x="256165" y="4052681"/>
            <a:chExt cx="7284143" cy="21363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2976FF-CBA7-EC5E-1C89-52C17EDBCF7A}"/>
                </a:ext>
              </a:extLst>
            </p:cNvPr>
            <p:cNvSpPr txBox="1"/>
            <p:nvPr/>
          </p:nvSpPr>
          <p:spPr>
            <a:xfrm>
              <a:off x="523596" y="5788871"/>
              <a:ext cx="7016712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Xing A, </a:t>
              </a:r>
              <a:r>
                <a:rPr lang="en-US" sz="1000" err="1"/>
                <a:t>Celimuge</a:t>
              </a:r>
              <a:r>
                <a:rPr lang="en-US" sz="1000"/>
                <a:t> W, </a:t>
              </a:r>
              <a:r>
                <a:rPr lang="en-US" sz="1000" err="1"/>
                <a:t>Yangfei</a:t>
              </a:r>
              <a:r>
                <a:rPr lang="en-US" sz="1000"/>
                <a:t> L, Min L. Multi-Robot Systems and Cooperative Object Transport: Communications, Platforms, and Challenges. 2023. 2644-1268</a:t>
              </a:r>
            </a:p>
          </p:txBody>
        </p:sp>
        <p:pic>
          <p:nvPicPr>
            <p:cNvPr id="6" name="Picture 5" descr="A table with numbers and letters&#10;&#10;AI-generated content may be incorrect.">
              <a:extLst>
                <a:ext uri="{FF2B5EF4-FFF2-40B4-BE49-F238E27FC236}">
                  <a16:creationId xmlns:a16="http://schemas.microsoft.com/office/drawing/2014/main" id="{687BEDEA-5705-2E02-264F-1FACD6937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726" t="19431" r="15575" b="866"/>
            <a:stretch>
              <a:fillRect/>
            </a:stretch>
          </p:blipFill>
          <p:spPr>
            <a:xfrm>
              <a:off x="256165" y="4052681"/>
              <a:ext cx="7280829" cy="1735198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E59EABC-8310-5C84-5437-675BFBE3A20E}"/>
              </a:ext>
            </a:extLst>
          </p:cNvPr>
          <p:cNvSpPr txBox="1"/>
          <p:nvPr/>
        </p:nvSpPr>
        <p:spPr>
          <a:xfrm>
            <a:off x="6170095" y="1628024"/>
            <a:ext cx="16161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Internal genetic Algorithm</a:t>
            </a:r>
            <a:br>
              <a:rPr lang="en-US" sz="1000"/>
            </a:br>
            <a:r>
              <a:rPr lang="en-US" sz="1000"/>
              <a:t>(Local Fitness )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13C45F8-86DF-876D-7C80-900ECDF997B1}"/>
              </a:ext>
            </a:extLst>
          </p:cNvPr>
          <p:cNvCxnSpPr/>
          <p:nvPr/>
        </p:nvCxnSpPr>
        <p:spPr>
          <a:xfrm>
            <a:off x="7698438" y="1726342"/>
            <a:ext cx="676566" cy="5184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41F5DD-771E-E6C0-7000-04B079ED40B1}"/>
              </a:ext>
            </a:extLst>
          </p:cNvPr>
          <p:cNvGrpSpPr/>
          <p:nvPr/>
        </p:nvGrpSpPr>
        <p:grpSpPr>
          <a:xfrm>
            <a:off x="8564395" y="1745391"/>
            <a:ext cx="3298560" cy="1533525"/>
            <a:chOff x="8564395" y="1745391"/>
            <a:chExt cx="3298560" cy="153352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3F115E-5F75-0F6D-5F2D-E215F75CBD38}"/>
                </a:ext>
              </a:extLst>
            </p:cNvPr>
            <p:cNvSpPr txBox="1"/>
            <p:nvPr/>
          </p:nvSpPr>
          <p:spPr>
            <a:xfrm>
              <a:off x="11056420" y="2605372"/>
              <a:ext cx="806535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Periodic</a:t>
              </a:r>
              <a:br>
                <a:rPr lang="en-US" sz="1000"/>
              </a:br>
              <a:r>
                <a:rPr lang="en-US" sz="1000"/>
                <a:t>Migration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D588FF-A800-F4BB-A889-F5FB834A9D2D}"/>
                </a:ext>
              </a:extLst>
            </p:cNvPr>
            <p:cNvGrpSpPr/>
            <p:nvPr/>
          </p:nvGrpSpPr>
          <p:grpSpPr>
            <a:xfrm>
              <a:off x="8564395" y="1745391"/>
              <a:ext cx="1438274" cy="1533525"/>
              <a:chOff x="8349047" y="1745391"/>
              <a:chExt cx="1438274" cy="1533525"/>
            </a:xfrm>
          </p:grpSpPr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D23AE7B-AC32-A95D-02CE-E1B78F3089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13595" y="2174274"/>
                <a:ext cx="873726" cy="110464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465E33B-8163-BA3B-2E63-C79884D4FA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51646" y="2469291"/>
                <a:ext cx="111726" cy="705108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D3A44206-2661-2FFC-65E2-0CB5F4C974EF}"/>
                  </a:ext>
                </a:extLst>
              </p:cNvPr>
              <p:cNvCxnSpPr/>
              <p:nvPr/>
            </p:nvCxnSpPr>
            <p:spPr>
              <a:xfrm flipV="1">
                <a:off x="8625273" y="1745391"/>
                <a:ext cx="1059849" cy="1907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AACDF54E-32D2-267A-556B-A1985A6CEB8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5946" y="1888524"/>
                <a:ext cx="883251" cy="20929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5C0B72A-229B-410C-1CDE-DBA195841B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49047" y="2498124"/>
                <a:ext cx="231174" cy="6569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E713E70-F9AD-E561-9AA6-08490A24DE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49096" y="2012091"/>
                <a:ext cx="783624" cy="1152783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923D75-5814-6B55-C19C-EA368C2C4CB8}"/>
              </a:ext>
            </a:extLst>
          </p:cNvPr>
          <p:cNvGrpSpPr/>
          <p:nvPr/>
        </p:nvGrpSpPr>
        <p:grpSpPr>
          <a:xfrm>
            <a:off x="7982778" y="4245799"/>
            <a:ext cx="4209823" cy="2323365"/>
            <a:chOff x="7982778" y="4245799"/>
            <a:chExt cx="4209823" cy="2323365"/>
          </a:xfrm>
        </p:grpSpPr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C4E86915-CB10-05EF-2090-1C7FA340F6B2}"/>
                </a:ext>
              </a:extLst>
            </p:cNvPr>
            <p:cNvSpPr/>
            <p:nvPr/>
          </p:nvSpPr>
          <p:spPr>
            <a:xfrm rot="-5400000">
              <a:off x="9360309" y="2868268"/>
              <a:ext cx="238274" cy="2993335"/>
            </a:xfrm>
            <a:prstGeom prst="lef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D4C4BE-1A46-E0D3-C1AB-1AE44D440930}"/>
                </a:ext>
              </a:extLst>
            </p:cNvPr>
            <p:cNvSpPr txBox="1"/>
            <p:nvPr/>
          </p:nvSpPr>
          <p:spPr>
            <a:xfrm>
              <a:off x="11023704" y="4518653"/>
              <a:ext cx="1168897" cy="16312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Global</a:t>
              </a:r>
              <a:br>
                <a:rPr lang="en-US" sz="1000"/>
              </a:br>
              <a:r>
                <a:rPr lang="en-US" sz="1000"/>
                <a:t>Convergence</a:t>
              </a:r>
              <a:br>
                <a:rPr lang="en-US" sz="1000"/>
              </a:br>
              <a:br>
                <a:rPr lang="en-US" sz="1000"/>
              </a:br>
              <a:r>
                <a:rPr lang="en-US" sz="1000"/>
                <a:t>Controllers</a:t>
              </a:r>
              <a:br>
                <a:rPr lang="en-US" sz="1000"/>
              </a:br>
              <a:r>
                <a:rPr lang="en-US" sz="1000"/>
                <a:t>"evolve"</a:t>
              </a:r>
              <a:br>
                <a:rPr lang="en-US" sz="1000"/>
              </a:br>
              <a:br>
                <a:rPr lang="en-US" sz="1000"/>
              </a:br>
              <a:r>
                <a:rPr lang="en-US" sz="1000"/>
                <a:t>Promotes </a:t>
              </a:r>
              <a:br>
                <a:rPr lang="en-US" sz="1000"/>
              </a:br>
              <a:r>
                <a:rPr lang="en-US" sz="1000"/>
                <a:t>genetic</a:t>
              </a:r>
              <a:br>
                <a:rPr lang="en-US" sz="1000"/>
              </a:br>
              <a:r>
                <a:rPr lang="en-US" sz="1000"/>
                <a:t>diversity</a:t>
              </a:r>
            </a:p>
            <a:p>
              <a:endParaRPr lang="en-US" sz="1000"/>
            </a:p>
          </p:txBody>
        </p:sp>
        <p:pic>
          <p:nvPicPr>
            <p:cNvPr id="28" name="Picture 27" descr="Rastrigin function - Wikipedia">
              <a:extLst>
                <a:ext uri="{FF2B5EF4-FFF2-40B4-BE49-F238E27FC236}">
                  <a16:creationId xmlns:a16="http://schemas.microsoft.com/office/drawing/2014/main" id="{EFE38A8F-E8EE-62E7-4EA8-DF5DBC3DC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947" t="6320" r="7546" b="6567"/>
            <a:stretch>
              <a:fillRect/>
            </a:stretch>
          </p:blipFill>
          <p:spPr>
            <a:xfrm>
              <a:off x="7987084" y="4570217"/>
              <a:ext cx="3085335" cy="176009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7FEF518-9AFE-4E2B-CE20-6EF08DD2EBD3}"/>
                </a:ext>
              </a:extLst>
            </p:cNvPr>
            <p:cNvSpPr txBox="1"/>
            <p:nvPr/>
          </p:nvSpPr>
          <p:spPr>
            <a:xfrm>
              <a:off x="7987747" y="6322943"/>
              <a:ext cx="2743200" cy="24622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000" err="1"/>
                <a:t>Rastrigin</a:t>
              </a:r>
              <a:r>
                <a:rPr lang="en-US" sz="1000"/>
                <a:t> Function (</a:t>
              </a:r>
              <a:r>
                <a:rPr lang="en-US" sz="1000" err="1"/>
                <a:t>WIkipedia</a:t>
              </a:r>
              <a:r>
                <a:rPr lang="en-US" sz="1000"/>
                <a:t>). 2025.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176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EB5A1-631F-C68D-2C6D-141DBAB8C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4EA6-B929-03EE-8764-C84214558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What do we address?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AA8437-A535-BE7E-26DF-5567D0F9F758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chemeClr val="accent3"/>
                </a:solidFill>
              </a:rPr>
              <a:t>Contributions to the field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751C20-8170-6546-FE97-C0F37575F7D7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FEB56C12-0A4C-68C6-8729-9803B2D94F4B}"/>
              </a:ext>
            </a:extLst>
          </p:cNvPr>
          <p:cNvSpPr txBox="1"/>
          <p:nvPr/>
        </p:nvSpPr>
        <p:spPr>
          <a:xfrm>
            <a:off x="1171367" y="1531854"/>
            <a:ext cx="5645874" cy="8002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Aim</a:t>
            </a:r>
            <a:br>
              <a:rPr lang="en-US"/>
            </a:br>
            <a:r>
              <a:rPr lang="en-US" sz="1400"/>
              <a:t>Quantify the impact of communication policies in a robotic swarm's embedded evolution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B7C74BC6-2938-7E1E-3389-0BED55E86593}"/>
              </a:ext>
            </a:extLst>
          </p:cNvPr>
          <p:cNvSpPr txBox="1">
            <a:spLocks/>
          </p:cNvSpPr>
          <p:nvPr/>
        </p:nvSpPr>
        <p:spPr>
          <a:xfrm>
            <a:off x="588350" y="1533809"/>
            <a:ext cx="583017" cy="697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/>
              <a:t>1.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6CCCAB-3291-432F-1D67-6CC4D126CCF9}"/>
              </a:ext>
            </a:extLst>
          </p:cNvPr>
          <p:cNvCxnSpPr>
            <a:cxnSpLocks/>
          </p:cNvCxnSpPr>
          <p:nvPr/>
        </p:nvCxnSpPr>
        <p:spPr>
          <a:xfrm>
            <a:off x="589953" y="2419297"/>
            <a:ext cx="594319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4">
            <a:extLst>
              <a:ext uri="{FF2B5EF4-FFF2-40B4-BE49-F238E27FC236}">
                <a16:creationId xmlns:a16="http://schemas.microsoft.com/office/drawing/2014/main" id="{6E65A82F-A771-3A12-CE39-C7028E780E63}"/>
              </a:ext>
            </a:extLst>
          </p:cNvPr>
          <p:cNvSpPr txBox="1"/>
          <p:nvPr/>
        </p:nvSpPr>
        <p:spPr>
          <a:xfrm>
            <a:off x="1171366" y="2551029"/>
            <a:ext cx="5645874" cy="273921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Objectives</a:t>
            </a:r>
            <a:endParaRPr lang="en-US"/>
          </a:p>
          <a:p>
            <a:pPr marL="800100" lvl="1" indent="-342900">
              <a:buAutoNum type="alphaLcParenR"/>
            </a:pPr>
            <a:r>
              <a:rPr lang="en-US" sz="1400"/>
              <a:t>Develop a hardware-in-the-loop testbed that permits reliable real-time data capture </a:t>
            </a:r>
            <a:br>
              <a:rPr lang="en-US" sz="1400"/>
            </a:br>
            <a:endParaRPr lang="en-US" sz="1400"/>
          </a:p>
          <a:p>
            <a:pPr marL="800100" lvl="1" indent="-342900">
              <a:buAutoNum type="alphaLcParenR"/>
            </a:pPr>
            <a:r>
              <a:rPr lang="en-US" sz="1400"/>
              <a:t>Design set of experiments to systematically test ESP-NOW communication under different independent variables</a:t>
            </a:r>
            <a:br>
              <a:rPr lang="en-US" sz="1400"/>
            </a:br>
            <a:endParaRPr lang="en-US" sz="1400"/>
          </a:p>
          <a:p>
            <a:pPr marL="800100" lvl="1" indent="-342900">
              <a:buAutoNum type="alphaLcParenR"/>
            </a:pPr>
            <a:r>
              <a:rPr lang="en-US" sz="1400"/>
              <a:t>Write firmware for the island-model embedded evolution and ESP-NOW</a:t>
            </a:r>
            <a:br>
              <a:rPr lang="en-US" sz="1400"/>
            </a:br>
            <a:endParaRPr lang="en-US" sz="1400"/>
          </a:p>
          <a:p>
            <a:pPr marL="800100" lvl="1" indent="-342900">
              <a:buAutoNum type="alphaLcParenR"/>
            </a:pPr>
            <a:r>
              <a:rPr lang="en-US" sz="1400"/>
              <a:t>Evaluate large volumes of data relevant to communication and convergence key performance indicators</a:t>
            </a:r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0FA6C5F-6069-6F8B-A14F-319ED869FA07}"/>
              </a:ext>
            </a:extLst>
          </p:cNvPr>
          <p:cNvSpPr txBox="1">
            <a:spLocks/>
          </p:cNvSpPr>
          <p:nvPr/>
        </p:nvSpPr>
        <p:spPr>
          <a:xfrm>
            <a:off x="588350" y="2552984"/>
            <a:ext cx="583017" cy="697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/>
              <a:t>2.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09C687A-BE9C-C0B1-AF24-556D480CFB25}"/>
              </a:ext>
            </a:extLst>
          </p:cNvPr>
          <p:cNvCxnSpPr>
            <a:cxnSpLocks/>
          </p:cNvCxnSpPr>
          <p:nvPr/>
        </p:nvCxnSpPr>
        <p:spPr>
          <a:xfrm>
            <a:off x="589952" y="5391097"/>
            <a:ext cx="594319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4">
            <a:extLst>
              <a:ext uri="{FF2B5EF4-FFF2-40B4-BE49-F238E27FC236}">
                <a16:creationId xmlns:a16="http://schemas.microsoft.com/office/drawing/2014/main" id="{B627DCCF-9A5C-CEAE-6AF7-11C932A75395}"/>
              </a:ext>
            </a:extLst>
          </p:cNvPr>
          <p:cNvSpPr txBox="1"/>
          <p:nvPr/>
        </p:nvSpPr>
        <p:spPr>
          <a:xfrm>
            <a:off x="1171366" y="5522829"/>
            <a:ext cx="5645874" cy="8002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Research Question</a:t>
            </a:r>
            <a:br>
              <a:rPr lang="en-US"/>
            </a:br>
            <a:r>
              <a:rPr lang="en-US" sz="1400"/>
              <a:t>Given the various independent variables profiled, can we identify pragmatic swarm design rules for this type of swarm?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E4201FBC-5854-FE62-BF8E-01E6D46C6797}"/>
              </a:ext>
            </a:extLst>
          </p:cNvPr>
          <p:cNvSpPr txBox="1">
            <a:spLocks/>
          </p:cNvSpPr>
          <p:nvPr/>
        </p:nvSpPr>
        <p:spPr>
          <a:xfrm>
            <a:off x="588350" y="5439059"/>
            <a:ext cx="583017" cy="6974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/>
              <a:t>3.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607C087-B688-E0AA-BD63-AF9501F94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46569"/>
              </p:ext>
            </p:extLst>
          </p:nvPr>
        </p:nvGraphicFramePr>
        <p:xfrm>
          <a:off x="6819900" y="1647825"/>
          <a:ext cx="4761438" cy="45880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6675">
                  <a:extLst>
                    <a:ext uri="{9D8B030D-6E8A-4147-A177-3AD203B41FA5}">
                      <a16:colId xmlns:a16="http://schemas.microsoft.com/office/drawing/2014/main" val="3435407371"/>
                    </a:ext>
                  </a:extLst>
                </a:gridCol>
                <a:gridCol w="3144763">
                  <a:extLst>
                    <a:ext uri="{9D8B030D-6E8A-4147-A177-3AD203B41FA5}">
                      <a16:colId xmlns:a16="http://schemas.microsoft.com/office/drawing/2014/main" val="108195806"/>
                    </a:ext>
                  </a:extLst>
                </a:gridCol>
              </a:tblGrid>
              <a:tr h="724967">
                <a:tc>
                  <a:txBody>
                    <a:bodyPr/>
                    <a:lstStyle/>
                    <a:p>
                      <a:r>
                        <a:rPr lang="en-US" sz="1600" b="1"/>
                        <a:t>Independent Variable</a:t>
                      </a:r>
                    </a:p>
                  </a:txBody>
                  <a:tcPr>
                    <a:lnB w="31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Implementation</a:t>
                      </a:r>
                    </a:p>
                  </a:txBody>
                  <a:tcPr>
                    <a:lnB w="31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36927"/>
                  </a:ext>
                </a:extLst>
              </a:tr>
              <a:tr h="476407">
                <a:tc>
                  <a:txBody>
                    <a:bodyPr/>
                    <a:lstStyle/>
                    <a:p>
                      <a:r>
                        <a:rPr lang="en-US" sz="1400"/>
                        <a:t>Swarm Density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3, 8, 13 swarm cohorts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054762"/>
                  </a:ext>
                </a:extLst>
              </a:tr>
              <a:tr h="756037">
                <a:tc>
                  <a:txBody>
                    <a:bodyPr/>
                    <a:lstStyle/>
                    <a:p>
                      <a:r>
                        <a:rPr lang="en-US" sz="1400"/>
                        <a:t>Locomotion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Static</a:t>
                      </a:r>
                      <a:br>
                        <a:rPr lang="en-US" sz="1400"/>
                      </a:br>
                      <a:r>
                        <a:rPr lang="en-US" sz="1400"/>
                        <a:t>vs</a:t>
                      </a:r>
                      <a:br>
                        <a:rPr lang="en-US" sz="1400"/>
                      </a:br>
                      <a:r>
                        <a:rPr lang="en-US" sz="1400"/>
                        <a:t>Brownian motion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21347"/>
                  </a:ext>
                </a:extLst>
              </a:tr>
              <a:tr h="756037">
                <a:tc>
                  <a:txBody>
                    <a:bodyPr/>
                    <a:lstStyle/>
                    <a:p>
                      <a:r>
                        <a:rPr lang="en-US" sz="1400"/>
                        <a:t>Topology Inference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Stochastic peer ordering </a:t>
                      </a:r>
                      <a:br>
                        <a:rPr lang="en-US" sz="1400"/>
                      </a:br>
                      <a:r>
                        <a:rPr lang="en-US" sz="1400"/>
                        <a:t>vs </a:t>
                      </a:r>
                      <a:br>
                        <a:rPr lang="en-US" sz="1400"/>
                      </a:br>
                      <a:r>
                        <a:rPr lang="en-US" sz="1400"/>
                        <a:t>Comm-aware biased peer ordering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456886"/>
                  </a:ext>
                </a:extLst>
              </a:tr>
              <a:tr h="963172">
                <a:tc>
                  <a:txBody>
                    <a:bodyPr/>
                    <a:lstStyle/>
                    <a:p>
                      <a:r>
                        <a:rPr lang="en-US" sz="1400"/>
                        <a:t>Message Limits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Unlimited </a:t>
                      </a:r>
                      <a:br>
                        <a:rPr lang="en-US" sz="1400"/>
                      </a:br>
                      <a:r>
                        <a:rPr lang="en-US" sz="1400"/>
                        <a:t>vs </a:t>
                      </a:r>
                      <a:br>
                        <a:rPr lang="en-US" sz="1400"/>
                      </a:br>
                      <a:r>
                        <a:rPr lang="en-US" sz="1400"/>
                        <a:t>Limited message caps during experiments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  <a:lnB w="3175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779411"/>
                  </a:ext>
                </a:extLst>
              </a:tr>
              <a:tr h="9113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Transmission Frequency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/>
                        <a:t>Random micro-delays bounded by peer latency  to spread out transmission bursts</a:t>
                      </a:r>
                    </a:p>
                  </a:txBody>
                  <a:tcPr>
                    <a:lnT w="3175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63661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32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0EBE7-A630-127D-397A-B638E61B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BD9C-4786-8F5A-AFEA-7CEEAF1E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Technical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155897-CBCE-3792-0923-A4412E5624BE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chemeClr val="accent3"/>
                </a:solidFill>
              </a:rPr>
              <a:t>Hardware-in-the-loop framework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EF0E2-2D75-46BB-6F4C-52AA7EC10481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8FC5BC-AD72-B2E5-F3A2-52CD6DC4B2B1}"/>
              </a:ext>
            </a:extLst>
          </p:cNvPr>
          <p:cNvGrpSpPr/>
          <p:nvPr/>
        </p:nvGrpSpPr>
        <p:grpSpPr>
          <a:xfrm>
            <a:off x="601317" y="2085975"/>
            <a:ext cx="1933590" cy="1727742"/>
            <a:chOff x="8059392" y="1524000"/>
            <a:chExt cx="2914665" cy="2727867"/>
          </a:xfrm>
        </p:grpSpPr>
        <p:pic>
          <p:nvPicPr>
            <p:cNvPr id="6" name="Picture 5" descr="A black and white drawing of a group of objects&#10;&#10;AI-generated content may be incorrect.">
              <a:extLst>
                <a:ext uri="{FF2B5EF4-FFF2-40B4-BE49-F238E27FC236}">
                  <a16:creationId xmlns:a16="http://schemas.microsoft.com/office/drawing/2014/main" id="{4B3EB5D4-754E-AC85-1140-05523D721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759" t="3889" r="16574" b="2585"/>
            <a:stretch>
              <a:fillRect/>
            </a:stretch>
          </p:blipFill>
          <p:spPr>
            <a:xfrm>
              <a:off x="8059392" y="1524000"/>
              <a:ext cx="2914665" cy="2727867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EFFFA8B-5F26-BF82-F028-06AE63D5683E}"/>
                </a:ext>
              </a:extLst>
            </p:cNvPr>
            <p:cNvGrpSpPr/>
            <p:nvPr/>
          </p:nvGrpSpPr>
          <p:grpSpPr>
            <a:xfrm>
              <a:off x="8564395" y="1745391"/>
              <a:ext cx="1438274" cy="1533525"/>
              <a:chOff x="8349047" y="1745391"/>
              <a:chExt cx="1438274" cy="1533525"/>
            </a:xfrm>
          </p:grpSpPr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C3CFA006-BA5F-5BD5-C626-0C97F38DE68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13595" y="2174274"/>
                <a:ext cx="873726" cy="110464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8FD6DCE-57E2-6895-DB81-C71B51DC1B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51646" y="2469291"/>
                <a:ext cx="111726" cy="705108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A7C79D0-357C-9918-A179-D419672B52E7}"/>
                  </a:ext>
                </a:extLst>
              </p:cNvPr>
              <p:cNvCxnSpPr/>
              <p:nvPr/>
            </p:nvCxnSpPr>
            <p:spPr>
              <a:xfrm flipV="1">
                <a:off x="8625273" y="1745391"/>
                <a:ext cx="1059849" cy="1907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AFB1838B-6138-9096-060E-901EF76735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665946" y="1888524"/>
                <a:ext cx="883251" cy="209292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247B32E-78E3-BDFD-D6BF-C39346ED3E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49047" y="2498124"/>
                <a:ext cx="231174" cy="6569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BFBF4A5-0B71-ACEA-8E97-8147FCCA07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49096" y="2012091"/>
                <a:ext cx="783624" cy="1152783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E33823DF-5070-DDFB-1E99-691F4571E8D2}"/>
              </a:ext>
            </a:extLst>
          </p:cNvPr>
          <p:cNvSpPr txBox="1">
            <a:spLocks/>
          </p:cNvSpPr>
          <p:nvPr/>
        </p:nvSpPr>
        <p:spPr>
          <a:xfrm>
            <a:off x="1359875" y="1714784"/>
            <a:ext cx="840192" cy="4974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/>
              <a:t>A​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6727A49-9AAB-91F4-23F0-AB33C8AEE90D}"/>
              </a:ext>
            </a:extLst>
          </p:cNvPr>
          <p:cNvCxnSpPr/>
          <p:nvPr/>
        </p:nvCxnSpPr>
        <p:spPr>
          <a:xfrm>
            <a:off x="617592" y="3888827"/>
            <a:ext cx="2224689" cy="10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107B2F5-A63B-1D61-44C7-7013499CDD01}"/>
              </a:ext>
            </a:extLst>
          </p:cNvPr>
          <p:cNvSpPr txBox="1"/>
          <p:nvPr/>
        </p:nvSpPr>
        <p:spPr>
          <a:xfrm>
            <a:off x="1283770" y="3933074"/>
            <a:ext cx="606510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Time (t)</a:t>
            </a:r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1A9234E-F008-B26D-BB1F-64B0873421FD}"/>
              </a:ext>
            </a:extLst>
          </p:cNvPr>
          <p:cNvGrpSpPr/>
          <p:nvPr/>
        </p:nvGrpSpPr>
        <p:grpSpPr>
          <a:xfrm>
            <a:off x="2026525" y="4157169"/>
            <a:ext cx="3421775" cy="2481756"/>
            <a:chOff x="2026525" y="4157169"/>
            <a:chExt cx="3421775" cy="2481756"/>
          </a:xfrm>
        </p:grpSpPr>
        <p:pic>
          <p:nvPicPr>
            <p:cNvPr id="27" name="Picture 26" descr="A diagram of a computer&#10;&#10;AI-generated content may be incorrect.">
              <a:extLst>
                <a:ext uri="{FF2B5EF4-FFF2-40B4-BE49-F238E27FC236}">
                  <a16:creationId xmlns:a16="http://schemas.microsoft.com/office/drawing/2014/main" id="{D1849F95-9E37-757B-837D-0B7167679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4625" y="4181475"/>
              <a:ext cx="2733675" cy="2457450"/>
            </a:xfrm>
            <a:prstGeom prst="rect">
              <a:avLst/>
            </a:prstGeom>
          </p:spPr>
        </p:pic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A6E5E32C-A118-9808-4C5F-BDE9D8D42BA9}"/>
                </a:ext>
              </a:extLst>
            </p:cNvPr>
            <p:cNvSpPr txBox="1">
              <a:spLocks/>
            </p:cNvSpPr>
            <p:nvPr/>
          </p:nvSpPr>
          <p:spPr>
            <a:xfrm>
              <a:off x="2207600" y="5410484"/>
              <a:ext cx="840192" cy="49740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600" b="1"/>
                <a:t>B​</a:t>
              </a:r>
            </a:p>
          </p:txBody>
        </p:sp>
        <p:sp>
          <p:nvSpPr>
            <p:cNvPr id="29" name="Arrow: Right 28">
              <a:extLst>
                <a:ext uri="{FF2B5EF4-FFF2-40B4-BE49-F238E27FC236}">
                  <a16:creationId xmlns:a16="http://schemas.microsoft.com/office/drawing/2014/main" id="{A133A198-33D4-0583-275A-DCC3466CE679}"/>
                </a:ext>
              </a:extLst>
            </p:cNvPr>
            <p:cNvSpPr/>
            <p:nvPr/>
          </p:nvSpPr>
          <p:spPr>
            <a:xfrm rot="2760000">
              <a:off x="1715594" y="4468100"/>
              <a:ext cx="928413" cy="306551"/>
            </a:xfrm>
            <a:prstGeom prst="rightArrow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F456AE7-E282-981C-0E74-4FAEA64D1123}"/>
              </a:ext>
            </a:extLst>
          </p:cNvPr>
          <p:cNvGrpSpPr/>
          <p:nvPr/>
        </p:nvGrpSpPr>
        <p:grpSpPr>
          <a:xfrm>
            <a:off x="5773244" y="4324871"/>
            <a:ext cx="6283502" cy="2174832"/>
            <a:chOff x="5773244" y="4324871"/>
            <a:chExt cx="6283502" cy="2174832"/>
          </a:xfrm>
        </p:grpSpPr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C113D8FC-E2A5-EA9D-4D54-F81ECFC192B7}"/>
                </a:ext>
              </a:extLst>
            </p:cNvPr>
            <p:cNvSpPr/>
            <p:nvPr/>
          </p:nvSpPr>
          <p:spPr>
            <a:xfrm>
              <a:off x="5773244" y="5258674"/>
              <a:ext cx="928413" cy="306551"/>
            </a:xfrm>
            <a:prstGeom prst="rightArrow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itle 1">
              <a:extLst>
                <a:ext uri="{FF2B5EF4-FFF2-40B4-BE49-F238E27FC236}">
                  <a16:creationId xmlns:a16="http://schemas.microsoft.com/office/drawing/2014/main" id="{0C7BF73E-1AF6-E68E-C386-64A576559451}"/>
                </a:ext>
              </a:extLst>
            </p:cNvPr>
            <p:cNvSpPr txBox="1">
              <a:spLocks/>
            </p:cNvSpPr>
            <p:nvPr/>
          </p:nvSpPr>
          <p:spPr>
            <a:xfrm>
              <a:off x="11216554" y="5315234"/>
              <a:ext cx="840192" cy="49740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600" b="1"/>
                <a:t>C</a:t>
              </a:r>
            </a:p>
          </p:txBody>
        </p:sp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36E3C64-F889-D39C-3091-6DE38AF2D6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8351" y="4324871"/>
              <a:ext cx="3732887" cy="2174832"/>
            </a:xfrm>
            <a:prstGeom prst="rect">
              <a:avLst/>
            </a:prstGeom>
            <a:ln>
              <a:noFill/>
            </a:ln>
            <a:effectLst>
              <a:outerShdw blurRad="292100" dist="50800" dir="3120000" algn="tl" rotWithShape="0">
                <a:srgbClr val="333333">
                  <a:alpha val="43000"/>
                </a:srgbClr>
              </a:outerShdw>
            </a:effec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54C220-0328-A9B7-1790-C21430351EF6}"/>
              </a:ext>
            </a:extLst>
          </p:cNvPr>
          <p:cNvGrpSpPr/>
          <p:nvPr/>
        </p:nvGrpSpPr>
        <p:grpSpPr>
          <a:xfrm>
            <a:off x="6914029" y="1714784"/>
            <a:ext cx="5146094" cy="2614959"/>
            <a:chOff x="6914029" y="1714784"/>
            <a:chExt cx="5146094" cy="2614959"/>
          </a:xfrm>
        </p:grpSpPr>
        <p:pic>
          <p:nvPicPr>
            <p:cNvPr id="30" name="Picture 29" descr="A screen shot of a computer&#10;&#10;AI-generated content may be incorrect.">
              <a:extLst>
                <a:ext uri="{FF2B5EF4-FFF2-40B4-BE49-F238E27FC236}">
                  <a16:creationId xmlns:a16="http://schemas.microsoft.com/office/drawing/2014/main" id="{25C89BBE-269D-46D6-4B25-3D92FEE9C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14029" y="1742235"/>
              <a:ext cx="3876675" cy="2209800"/>
            </a:xfrm>
            <a:prstGeom prst="rect">
              <a:avLst/>
            </a:prstGeom>
          </p:spPr>
        </p:pic>
        <p:sp>
          <p:nvSpPr>
            <p:cNvPr id="37" name="Title 1">
              <a:extLst>
                <a:ext uri="{FF2B5EF4-FFF2-40B4-BE49-F238E27FC236}">
                  <a16:creationId xmlns:a16="http://schemas.microsoft.com/office/drawing/2014/main" id="{650AFBEC-4260-83E8-584B-156F5261B6BD}"/>
                </a:ext>
              </a:extLst>
            </p:cNvPr>
            <p:cNvSpPr txBox="1">
              <a:spLocks/>
            </p:cNvSpPr>
            <p:nvPr/>
          </p:nvSpPr>
          <p:spPr>
            <a:xfrm>
              <a:off x="11219931" y="1714784"/>
              <a:ext cx="840192" cy="49740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600" b="1"/>
                <a:t>D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AC27F4D8-5CB4-1CB3-F562-11A6CEC4EAE2}"/>
                </a:ext>
              </a:extLst>
            </p:cNvPr>
            <p:cNvSpPr/>
            <p:nvPr/>
          </p:nvSpPr>
          <p:spPr>
            <a:xfrm rot="16200000">
              <a:off x="10905537" y="3712261"/>
              <a:ext cx="928413" cy="306551"/>
            </a:xfrm>
            <a:prstGeom prst="rightArrow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EDA32C6-A50A-4FCA-4973-52C03A0EC033}"/>
              </a:ext>
            </a:extLst>
          </p:cNvPr>
          <p:cNvSpPr/>
          <p:nvPr/>
        </p:nvSpPr>
        <p:spPr>
          <a:xfrm rot="10800000">
            <a:off x="2715716" y="2793379"/>
            <a:ext cx="328338" cy="306551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E41802-A835-EB7A-A2D0-AD780A916ABB}"/>
              </a:ext>
            </a:extLst>
          </p:cNvPr>
          <p:cNvGrpSpPr/>
          <p:nvPr/>
        </p:nvGrpSpPr>
        <p:grpSpPr>
          <a:xfrm>
            <a:off x="3214688" y="1576388"/>
            <a:ext cx="3486968" cy="2371725"/>
            <a:chOff x="3214688" y="1576388"/>
            <a:chExt cx="3486968" cy="2371725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E169499-BEEC-DF09-0573-B771721F64C4}"/>
                </a:ext>
              </a:extLst>
            </p:cNvPr>
            <p:cNvSpPr/>
            <p:nvPr/>
          </p:nvSpPr>
          <p:spPr>
            <a:xfrm rot="10800000">
              <a:off x="5773243" y="2793379"/>
              <a:ext cx="928413" cy="306551"/>
            </a:xfrm>
            <a:prstGeom prst="rightArrow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white square with black text&#10;&#10;AI-generated content may be incorrect.">
              <a:extLst>
                <a:ext uri="{FF2B5EF4-FFF2-40B4-BE49-F238E27FC236}">
                  <a16:creationId xmlns:a16="http://schemas.microsoft.com/office/drawing/2014/main" id="{5B82FA3F-4192-271B-8512-49CB19DC8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14688" y="1576388"/>
              <a:ext cx="2381250" cy="237172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84711FE-CC2B-26E3-61CF-B99BA05ED5EE}"/>
                </a:ext>
              </a:extLst>
            </p:cNvPr>
            <p:cNvSpPr/>
            <p:nvPr/>
          </p:nvSpPr>
          <p:spPr>
            <a:xfrm>
              <a:off x="3363354" y="3201686"/>
              <a:ext cx="710513" cy="391297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itle 1">
              <a:extLst>
                <a:ext uri="{FF2B5EF4-FFF2-40B4-BE49-F238E27FC236}">
                  <a16:creationId xmlns:a16="http://schemas.microsoft.com/office/drawing/2014/main" id="{22E9FAD8-D3F3-6016-EDD1-BE935AE325B2}"/>
                </a:ext>
              </a:extLst>
            </p:cNvPr>
            <p:cNvSpPr txBox="1">
              <a:spLocks/>
            </p:cNvSpPr>
            <p:nvPr/>
          </p:nvSpPr>
          <p:spPr>
            <a:xfrm>
              <a:off x="5592064" y="1714784"/>
              <a:ext cx="840192" cy="49740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2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600" b="1"/>
                <a:t>E​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865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C1F7-6D9B-EB1A-D8C8-E05AFF3D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1F32-8A62-907F-CE9B-24F5AEEB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Technical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192930-E788-DFB3-FF8A-624383CF22E6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 err="1">
                <a:solidFill>
                  <a:schemeClr val="accent3"/>
                </a:solidFill>
              </a:rPr>
              <a:t>FreeRTOS</a:t>
            </a:r>
            <a:r>
              <a:rPr lang="en-US" sz="1600" b="1">
                <a:solidFill>
                  <a:schemeClr val="accent3"/>
                </a:solidFill>
              </a:rPr>
              <a:t> GA/ESP-NOW Implementation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008F3-622C-0471-FB89-802A679DCBA8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 descr="A black and white outline of a robot&#10;&#10;AI-generated content may be incorrect.">
            <a:extLst>
              <a:ext uri="{FF2B5EF4-FFF2-40B4-BE49-F238E27FC236}">
                <a16:creationId xmlns:a16="http://schemas.microsoft.com/office/drawing/2014/main" id="{B1D5B350-2DF9-59AF-1852-9D2B4AA6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097" y="1904999"/>
            <a:ext cx="1534613" cy="1524001"/>
          </a:xfrm>
          <a:prstGeom prst="rect">
            <a:avLst/>
          </a:prstGeom>
        </p:spPr>
      </p:pic>
      <p:pic>
        <p:nvPicPr>
          <p:cNvPr id="7" name="Picture 6" descr="A black and white outline of a robot&#10;&#10;AI-generated content may be incorrect.">
            <a:extLst>
              <a:ext uri="{FF2B5EF4-FFF2-40B4-BE49-F238E27FC236}">
                <a16:creationId xmlns:a16="http://schemas.microsoft.com/office/drawing/2014/main" id="{BAC2732E-2DFE-0E59-1AA0-734639715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773" y="1904999"/>
            <a:ext cx="1534613" cy="1524001"/>
          </a:xfrm>
          <a:prstGeom prst="rect">
            <a:avLst/>
          </a:prstGeom>
          <a:effectLst/>
        </p:spPr>
      </p:pic>
      <p:pic>
        <p:nvPicPr>
          <p:cNvPr id="8" name="Graphic 7" descr="Metronome outline">
            <a:extLst>
              <a:ext uri="{FF2B5EF4-FFF2-40B4-BE49-F238E27FC236}">
                <a16:creationId xmlns:a16="http://schemas.microsoft.com/office/drawing/2014/main" id="{0063672F-08B4-75EF-2ED5-9D43F1E036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3232" y="2178907"/>
            <a:ext cx="667265" cy="66726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3CE6A87-C789-649D-0F45-BD2C62F5C28C}"/>
              </a:ext>
            </a:extLst>
          </p:cNvPr>
          <p:cNvCxnSpPr/>
          <p:nvPr/>
        </p:nvCxnSpPr>
        <p:spPr>
          <a:xfrm>
            <a:off x="8011296" y="2131541"/>
            <a:ext cx="15857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26C02A-DC2D-FED6-CA4E-5965CD76E711}"/>
              </a:ext>
            </a:extLst>
          </p:cNvPr>
          <p:cNvCxnSpPr>
            <a:cxnSpLocks/>
          </p:cNvCxnSpPr>
          <p:nvPr/>
        </p:nvCxnSpPr>
        <p:spPr>
          <a:xfrm flipH="1" flipV="1">
            <a:off x="7995478" y="3241183"/>
            <a:ext cx="1591306" cy="24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435062-684F-8C55-3A33-C67F5B72D698}"/>
              </a:ext>
            </a:extLst>
          </p:cNvPr>
          <p:cNvSpPr txBox="1"/>
          <p:nvPr/>
        </p:nvSpPr>
        <p:spPr>
          <a:xfrm>
            <a:off x="8410014" y="2842210"/>
            <a:ext cx="108456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Asynchronous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DC1F3-1567-6AEB-E9BD-86D19B33AA56}"/>
              </a:ext>
            </a:extLst>
          </p:cNvPr>
          <p:cNvSpPr txBox="1"/>
          <p:nvPr/>
        </p:nvSpPr>
        <p:spPr>
          <a:xfrm>
            <a:off x="6453527" y="1616833"/>
            <a:ext cx="39163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1"/>
              <a:t>Event push-driven unicast communication</a:t>
            </a:r>
            <a:endParaRPr lang="en-US" b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327CC5-E2B6-1EBE-7B5C-ADFB22D3F6E7}"/>
              </a:ext>
            </a:extLst>
          </p:cNvPr>
          <p:cNvSpPr txBox="1"/>
          <p:nvPr/>
        </p:nvSpPr>
        <p:spPr>
          <a:xfrm>
            <a:off x="583977" y="1710018"/>
            <a:ext cx="551499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Due to the nature of the communication, we had to handle the execution of the Genetic Algorithm and sending/receiving of messages.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7DC23F-5EAA-9CB8-4C4B-C9250496C6C7}"/>
              </a:ext>
            </a:extLst>
          </p:cNvPr>
          <p:cNvGrpSpPr/>
          <p:nvPr/>
        </p:nvGrpSpPr>
        <p:grpSpPr>
          <a:xfrm>
            <a:off x="594274" y="4150453"/>
            <a:ext cx="11067930" cy="2428875"/>
            <a:chOff x="594274" y="4150453"/>
            <a:chExt cx="11067930" cy="2428875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01ADF44-2B3C-7DDC-0935-474BC964A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3904" y="4150453"/>
              <a:ext cx="5448300" cy="2428875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C1FD47-6002-2B52-5330-40235B4A82DC}"/>
                </a:ext>
              </a:extLst>
            </p:cNvPr>
            <p:cNvSpPr txBox="1"/>
            <p:nvPr/>
          </p:nvSpPr>
          <p:spPr>
            <a:xfrm>
              <a:off x="594274" y="4150477"/>
              <a:ext cx="5514991" cy="156966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/>
                <a:t>Handle multiple </a:t>
              </a:r>
              <a:r>
                <a:rPr lang="en-US" sz="1600" err="1"/>
                <a:t>FreeRTOS</a:t>
              </a:r>
              <a:r>
                <a:rPr lang="en-US" sz="1600"/>
                <a:t> tasks concurrently and in parallel:</a:t>
              </a:r>
            </a:p>
            <a:p>
              <a:endParaRPr lang="en-US" sz="1600"/>
            </a:p>
            <a:p>
              <a:pPr marL="342900" indent="-342900">
                <a:buAutoNum type="arabicPeriod"/>
              </a:pPr>
              <a:r>
                <a:rPr lang="en-US" sz="1600"/>
                <a:t>Handle event logging for data analysis</a:t>
              </a:r>
            </a:p>
            <a:p>
              <a:pPr marL="342900" indent="-342900">
                <a:buAutoNum type="arabicPeriod"/>
              </a:pPr>
              <a:r>
                <a:rPr lang="en-US" sz="1600"/>
                <a:t>Keep evolving solutions locally</a:t>
              </a:r>
            </a:p>
            <a:p>
              <a:pPr marL="342900" indent="-342900">
                <a:buAutoNum type="arabicPeriod"/>
              </a:pPr>
              <a:r>
                <a:rPr lang="en-US" sz="1600"/>
                <a:t>Keep sending and receiving ESP-NOW messages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038905-D564-A786-AB56-08FC1179FB68}"/>
              </a:ext>
            </a:extLst>
          </p:cNvPr>
          <p:cNvGrpSpPr/>
          <p:nvPr/>
        </p:nvGrpSpPr>
        <p:grpSpPr>
          <a:xfrm>
            <a:off x="583977" y="2343665"/>
            <a:ext cx="11201075" cy="961177"/>
            <a:chOff x="583977" y="2343665"/>
            <a:chExt cx="11201075" cy="96117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20FE8D5-4134-049B-7F2F-5671CE954A56}"/>
                </a:ext>
              </a:extLst>
            </p:cNvPr>
            <p:cNvSpPr txBox="1"/>
            <p:nvPr/>
          </p:nvSpPr>
          <p:spPr>
            <a:xfrm>
              <a:off x="583977" y="2966288"/>
              <a:ext cx="5514991" cy="33855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/>
                <a:t>Use of queues and buffers for in-coming messages.​</a:t>
              </a:r>
            </a:p>
          </p:txBody>
        </p:sp>
        <p:pic>
          <p:nvPicPr>
            <p:cNvPr id="23" name="Graphic 22" descr="Priorities outline">
              <a:extLst>
                <a:ext uri="{FF2B5EF4-FFF2-40B4-BE49-F238E27FC236}">
                  <a16:creationId xmlns:a16="http://schemas.microsoft.com/office/drawing/2014/main" id="{721942C5-568B-0F73-9EF4-10F9EC055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772665" y="2343665"/>
              <a:ext cx="647495" cy="646671"/>
            </a:xfrm>
            <a:prstGeom prst="rect">
              <a:avLst/>
            </a:prstGeom>
          </p:spPr>
        </p:pic>
        <p:pic>
          <p:nvPicPr>
            <p:cNvPr id="24" name="Graphic 23" descr="Priorities outline">
              <a:extLst>
                <a:ext uri="{FF2B5EF4-FFF2-40B4-BE49-F238E27FC236}">
                  <a16:creationId xmlns:a16="http://schemas.microsoft.com/office/drawing/2014/main" id="{64511AF6-9225-099A-667C-B459F4619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137557" y="2343665"/>
              <a:ext cx="647495" cy="646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329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CC9F-8A91-B578-EFC1-3DCBB78B0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2925F-9233-D837-0C4A-48FCDD6D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Technical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87FF4E-06E9-7EE8-57EE-DEB5DA1A2AC2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b="1">
                <a:solidFill>
                  <a:schemeClr val="accent3"/>
                </a:solidFill>
              </a:rPr>
              <a:t>I</a:t>
            </a:r>
            <a:r>
              <a:rPr lang="en-US" sz="1600" b="1" baseline="30000">
                <a:solidFill>
                  <a:schemeClr val="accent3"/>
                </a:solidFill>
              </a:rPr>
              <a:t>2</a:t>
            </a:r>
            <a:r>
              <a:rPr lang="en-US" sz="1600" b="1">
                <a:solidFill>
                  <a:schemeClr val="accent3"/>
                </a:solidFill>
              </a:rPr>
              <a:t>C Hardware Abstraction Layer (HAL) bug fixing for ESP32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74BD9-D021-D0F4-AC46-ADC75FE6EC69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WhatsApp Video 2025-08-25 at 16.20.21">
            <a:hlinkClick r:id="" action="ppaction://media"/>
            <a:extLst>
              <a:ext uri="{FF2B5EF4-FFF2-40B4-BE49-F238E27FC236}">
                <a16:creationId xmlns:a16="http://schemas.microsoft.com/office/drawing/2014/main" id="{1D2DB57A-BE9F-3A11-0C6A-1F850F1917A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64605" y="2389094"/>
            <a:ext cx="3482788" cy="2572872"/>
          </a:xfrm>
          <a:prstGeom prst="rect">
            <a:avLst/>
          </a:prstGeom>
        </p:spPr>
      </p:pic>
      <p:pic>
        <p:nvPicPr>
          <p:cNvPr id="6" name="Picture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3EC190E3-662E-B720-EFD1-90F15E7FD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06" y="4171906"/>
            <a:ext cx="7328648" cy="207766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72866-2984-CA4A-DC5E-76FB21AF4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53" y="2509837"/>
            <a:ext cx="7322484" cy="975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4A4303-C550-7EC3-3F82-41D57FE97E6E}"/>
              </a:ext>
            </a:extLst>
          </p:cNvPr>
          <p:cNvSpPr txBox="1"/>
          <p:nvPr/>
        </p:nvSpPr>
        <p:spPr>
          <a:xfrm>
            <a:off x="992840" y="3480548"/>
            <a:ext cx="65083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hlinkClick r:id="rId7"/>
              </a:rPr>
              <a:t>https://github.com/espressif/esp-idf/issues/680#issuecomment-2426425417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B1CC2C-4A77-2BAC-CCA7-007C857ECE30}"/>
              </a:ext>
            </a:extLst>
          </p:cNvPr>
          <p:cNvSpPr txBox="1"/>
          <p:nvPr/>
        </p:nvSpPr>
        <p:spPr>
          <a:xfrm>
            <a:off x="522194" y="1710018"/>
            <a:ext cx="733761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Successfully modified ESP-IDF HAL source code to implement I</a:t>
            </a:r>
            <a:r>
              <a:rPr lang="en-US" sz="1600" baseline="30000"/>
              <a:t>2</a:t>
            </a:r>
            <a:r>
              <a:rPr lang="en-US" sz="1600"/>
              <a:t>C and became an open-source contributor.</a:t>
            </a:r>
          </a:p>
        </p:txBody>
      </p:sp>
    </p:spTree>
    <p:extLst>
      <p:ext uri="{BB962C8B-B14F-4D97-AF65-F5344CB8AC3E}">
        <p14:creationId xmlns:p14="http://schemas.microsoft.com/office/powerpoint/2010/main" val="308569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D63F8-1759-BF60-B081-367170F0D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227F-6B5A-140D-DD1A-FB4B6BCE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Knowledge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16AB223-92E6-97AD-4298-7EFC5D766AC5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accent3"/>
                </a:solidFill>
                <a:ea typeface="+mj-lt"/>
                <a:cs typeface="+mj-lt"/>
              </a:rPr>
              <a:t>Link formation and transmission timing, drive QoS and adaptation on this platform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59A44B-074D-2A62-4527-23546B170FCF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9AFDEB-0EAA-E5B9-2C01-1AA9273B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053" y="1478972"/>
            <a:ext cx="9885407" cy="25408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9F73C4-68B2-DAFF-7A72-02D647DC4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055" y="4011894"/>
            <a:ext cx="9885406" cy="2850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D72B59-AB59-942F-8CC1-E2F3953BC8D0}"/>
              </a:ext>
            </a:extLst>
          </p:cNvPr>
          <p:cNvSpPr txBox="1"/>
          <p:nvPr/>
        </p:nvSpPr>
        <p:spPr>
          <a:xfrm rot="16200000">
            <a:off x="-468529" y="2557035"/>
            <a:ext cx="25166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Topology Inference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01D5E4-4914-8E7E-D925-23668B4BC01F}"/>
              </a:ext>
            </a:extLst>
          </p:cNvPr>
          <p:cNvSpPr txBox="1"/>
          <p:nvPr/>
        </p:nvSpPr>
        <p:spPr>
          <a:xfrm rot="16200000">
            <a:off x="-468528" y="5090170"/>
            <a:ext cx="25166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Transmission Frequency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06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387E3-A986-A47E-25B2-2669FE7FE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2D6B-6389-AA39-8617-75A8F39F1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Knowledge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17B39D-526D-6EFD-114F-4F87845951EA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accent3"/>
                </a:solidFill>
                <a:ea typeface="+mj-lt"/>
                <a:cs typeface="+mj-lt"/>
              </a:rPr>
              <a:t>Link formation and transmission timing, drive QoS and adaptation on this platform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0F90D0-3EA6-AC39-2AF2-9D1359E8885B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495D3D-8898-D5CB-08B9-A969D24BF50F}"/>
              </a:ext>
            </a:extLst>
          </p:cNvPr>
          <p:cNvSpPr txBox="1"/>
          <p:nvPr/>
        </p:nvSpPr>
        <p:spPr>
          <a:xfrm rot="16200000">
            <a:off x="-468529" y="2557035"/>
            <a:ext cx="25166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Topology Inference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6FA4AF-6ECE-ED7B-8C52-2C0A2D641F51}"/>
              </a:ext>
            </a:extLst>
          </p:cNvPr>
          <p:cNvSpPr txBox="1"/>
          <p:nvPr/>
        </p:nvSpPr>
        <p:spPr>
          <a:xfrm rot="16200000">
            <a:off x="-468528" y="5090170"/>
            <a:ext cx="251665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Transmission Frequency</a:t>
            </a:r>
            <a:endParaRPr lang="en-US"/>
          </a:p>
        </p:txBody>
      </p:sp>
      <p:pic>
        <p:nvPicPr>
          <p:cNvPr id="3" name="Picture 2" descr="A graph of different types of robots&#10;&#10;AI-generated content may be incorrect.">
            <a:extLst>
              <a:ext uri="{FF2B5EF4-FFF2-40B4-BE49-F238E27FC236}">
                <a16:creationId xmlns:a16="http://schemas.microsoft.com/office/drawing/2014/main" id="{24619BC0-6A67-4DF3-E2FC-5E9A01561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89" y="3991300"/>
            <a:ext cx="10214919" cy="28707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E200E9-7C59-C76D-ACF6-A8CA6D068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89" y="1446719"/>
            <a:ext cx="10214919" cy="250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1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EAAF-446D-E46A-3FAE-CBF4F998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3C92-E5A0-54E4-F3F3-77891DC16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Knowledge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9063BB-E247-8083-222F-E17C9C4CB129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accent3"/>
                </a:solidFill>
                <a:ea typeface="+mj-lt"/>
                <a:cs typeface="+mj-lt"/>
              </a:rPr>
              <a:t>13-agent deep dive</a:t>
            </a:r>
            <a:endParaRPr lang="en-US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AF6FCE-1057-41A7-07F9-83FB0BF409EF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E66220-38F4-E055-BB72-DD629101C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785" y="1447354"/>
            <a:ext cx="9658865" cy="2779104"/>
          </a:xfrm>
          <a:prstGeom prst="rect">
            <a:avLst/>
          </a:prstGeom>
        </p:spPr>
      </p:pic>
      <p:pic>
        <p:nvPicPr>
          <p:cNvPr id="8" name="Picture 7" descr="A group of colorful objects with lines and dots&#10;&#10;AI-generated content may be incorrect.">
            <a:extLst>
              <a:ext uri="{FF2B5EF4-FFF2-40B4-BE49-F238E27FC236}">
                <a16:creationId xmlns:a16="http://schemas.microsoft.com/office/drawing/2014/main" id="{1DB3F59D-9FA2-6A8C-21FC-88DE8A7D5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784" y="4330596"/>
            <a:ext cx="9658864" cy="253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5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9122A-372F-6EF5-3BC7-0920A117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2892-7DE3-26B7-5EB6-7E0A758EB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02183"/>
            <a:ext cx="11155680" cy="291465"/>
          </a:xfrm>
        </p:spPr>
        <p:txBody>
          <a:bodyPr>
            <a:noAutofit/>
          </a:bodyPr>
          <a:lstStyle/>
          <a:p>
            <a:r>
              <a:rPr lang="en-US" sz="2000"/>
              <a:t>Knowledge Contributions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D26C0B-BDB3-C7FB-0AAC-1908E15D0EED}"/>
              </a:ext>
            </a:extLst>
          </p:cNvPr>
          <p:cNvSpPr>
            <a:spLocks noGrp="1"/>
          </p:cNvSpPr>
          <p:nvPr/>
        </p:nvSpPr>
        <p:spPr>
          <a:xfrm>
            <a:off x="516666" y="1066372"/>
            <a:ext cx="10505303" cy="367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>
                <a:solidFill>
                  <a:schemeClr val="accent3"/>
                </a:solidFill>
                <a:ea typeface="+mj-lt"/>
                <a:cs typeface="+mj-lt"/>
              </a:rPr>
              <a:t>Conclusions and Future Studies </a:t>
            </a:r>
            <a:endParaRPr lang="en-US" sz="1600">
              <a:solidFill>
                <a:schemeClr val="accent3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DFD96-7350-1957-E8A2-0D0912D99BFC}"/>
              </a:ext>
            </a:extLst>
          </p:cNvPr>
          <p:cNvSpPr/>
          <p:nvPr/>
        </p:nvSpPr>
        <p:spPr>
          <a:xfrm>
            <a:off x="587766" y="1440200"/>
            <a:ext cx="11042563" cy="7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0098D8E-6DE9-425C-2BD4-AB81ECCB9BF0}"/>
              </a:ext>
            </a:extLst>
          </p:cNvPr>
          <p:cNvSpPr txBox="1"/>
          <p:nvPr/>
        </p:nvSpPr>
        <p:spPr>
          <a:xfrm>
            <a:off x="584420" y="2052639"/>
            <a:ext cx="5645874" cy="8002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Research Question</a:t>
            </a:r>
            <a:br>
              <a:rPr lang="en-US"/>
            </a:br>
            <a:r>
              <a:rPr lang="en-US" sz="1400"/>
              <a:t>Given the various independent variables profiled, can we identify pragmatic swarm design rules for this type of swarm?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353402-2AFF-501C-DBE2-6B016D891362}"/>
              </a:ext>
            </a:extLst>
          </p:cNvPr>
          <p:cNvSpPr/>
          <p:nvPr/>
        </p:nvSpPr>
        <p:spPr>
          <a:xfrm>
            <a:off x="5993027" y="2316891"/>
            <a:ext cx="473675" cy="267729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8800E9B-685F-DFDA-B2C2-C4CC5C6AEE70}"/>
              </a:ext>
            </a:extLst>
          </p:cNvPr>
          <p:cNvSpPr txBox="1"/>
          <p:nvPr/>
        </p:nvSpPr>
        <p:spPr>
          <a:xfrm>
            <a:off x="6618636" y="1651045"/>
            <a:ext cx="5058929" cy="187743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Design Rules</a:t>
            </a:r>
            <a:br>
              <a:rPr lang="en-US" b="1"/>
            </a:br>
            <a:endParaRPr lang="en-US" b="1"/>
          </a:p>
          <a:p>
            <a:pPr marL="342900" indent="-342900">
              <a:buAutoNum type="arabicPeriod"/>
            </a:pPr>
            <a:r>
              <a:rPr lang="en-US" sz="1600" b="1">
                <a:ea typeface="+mn-lt"/>
                <a:cs typeface="+mn-lt"/>
              </a:rPr>
              <a:t>Rapid diffusion / high throughput →</a:t>
            </a:r>
            <a:r>
              <a:rPr lang="en-US" sz="1600">
                <a:ea typeface="+mn-lt"/>
                <a:cs typeface="+mn-lt"/>
              </a:rPr>
              <a:t> stochastic + micro-delays.</a:t>
            </a:r>
            <a:br>
              <a:rPr lang="en-US" sz="1600">
                <a:ea typeface="+mn-lt"/>
                <a:cs typeface="+mn-lt"/>
              </a:rPr>
            </a:br>
            <a:endParaRPr lang="en-US" sz="1600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US" sz="1600" b="1">
                <a:ea typeface="+mn-lt"/>
                <a:cs typeface="+mn-lt"/>
              </a:rPr>
              <a:t>Low latency/jitter / robustness →</a:t>
            </a:r>
            <a:r>
              <a:rPr lang="en-US" sz="1600">
                <a:ea typeface="+mn-lt"/>
                <a:cs typeface="+mn-lt"/>
              </a:rPr>
              <a:t> comm-aware (limit effective links). </a:t>
            </a:r>
            <a:endParaRPr lang="en-US" sz="160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8EE57A-8C00-33E5-9274-2C6BE817BD78}"/>
              </a:ext>
            </a:extLst>
          </p:cNvPr>
          <p:cNvGrpSpPr/>
          <p:nvPr/>
        </p:nvGrpSpPr>
        <p:grpSpPr>
          <a:xfrm>
            <a:off x="584420" y="4199595"/>
            <a:ext cx="10732407" cy="2196762"/>
            <a:chOff x="584420" y="4199595"/>
            <a:chExt cx="10732407" cy="2196762"/>
          </a:xfrm>
        </p:grpSpPr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E4C1FC3C-81A3-2A5B-254D-D88E5E13616F}"/>
                </a:ext>
              </a:extLst>
            </p:cNvPr>
            <p:cNvSpPr txBox="1"/>
            <p:nvPr/>
          </p:nvSpPr>
          <p:spPr>
            <a:xfrm>
              <a:off x="584420" y="4647557"/>
              <a:ext cx="5645874" cy="144655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/>
                <a:t>Future Work</a:t>
              </a:r>
              <a:br>
                <a:rPr lang="en-US"/>
              </a:br>
              <a:r>
                <a:rPr lang="en-US" sz="1400">
                  <a:ea typeface="+mn-lt"/>
                  <a:cs typeface="+mn-lt"/>
                </a:rPr>
                <a:t>Stress-test larger and dynamic payloads to probe the limits of our conclusions.</a:t>
              </a:r>
              <a:br>
                <a:rPr lang="en-US" sz="1400">
                  <a:ea typeface="+mn-lt"/>
                  <a:cs typeface="+mn-lt"/>
                </a:rPr>
              </a:br>
              <a:br>
                <a:rPr lang="en-US" sz="1400">
                  <a:ea typeface="+mn-lt"/>
                  <a:cs typeface="+mn-lt"/>
                </a:rPr>
              </a:br>
              <a:r>
                <a:rPr lang="en-US" sz="1400"/>
                <a:t>Determine optimal communication policies for energy efficient </a:t>
              </a:r>
              <a:r>
                <a:rPr lang="en-US" sz="1400" err="1"/>
                <a:t>deploymens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4B3A446-39FD-0723-12EF-719B9DF55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930" b="465"/>
            <a:stretch>
              <a:fillRect/>
            </a:stretch>
          </p:blipFill>
          <p:spPr>
            <a:xfrm>
              <a:off x="6940378" y="4199595"/>
              <a:ext cx="4376449" cy="2196762"/>
            </a:xfrm>
            <a:prstGeom prst="rect">
              <a:avLst/>
            </a:prstGeom>
          </p:spPr>
        </p:pic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40AF516B-E1FB-F6A5-17BD-933CFB65D6C2}"/>
                </a:ext>
              </a:extLst>
            </p:cNvPr>
            <p:cNvSpPr/>
            <p:nvPr/>
          </p:nvSpPr>
          <p:spPr>
            <a:xfrm>
              <a:off x="5993027" y="5169242"/>
              <a:ext cx="473675" cy="267729"/>
            </a:xfrm>
            <a:prstGeom prst="rightArrow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701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Communication policies that shape Embedded Evolution in ESP32 Collectives</vt:lpstr>
      <vt:lpstr>Why this research?</vt:lpstr>
      <vt:lpstr>What do we address?</vt:lpstr>
      <vt:lpstr>Technical Contributions</vt:lpstr>
      <vt:lpstr>Technical Contributions</vt:lpstr>
      <vt:lpstr>Technical Contributions</vt:lpstr>
      <vt:lpstr>Knowledge Contributions</vt:lpstr>
      <vt:lpstr>Knowledge Contributions</vt:lpstr>
      <vt:lpstr>Knowledge Contributions</vt:lpstr>
      <vt:lpstr>Knowledge Contributions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2025-08-25T09:12:13Z</dcterms:created>
  <dcterms:modified xsi:type="dcterms:W3CDTF">2025-08-27T10:31:38Z</dcterms:modified>
</cp:coreProperties>
</file>